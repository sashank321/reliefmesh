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D64"/>
                </a:solidFill>
                <a:latin typeface="Calibri"/>
              </a:defRPr>
            </a:pPr>
            <a:r>
              <a:t>TEAM SCRIPTFLOW  •  MONGODB HACKATHON 2026  •  TRACK 1: DISASTER RELIEF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Calibri"/>
              </a:defRPr>
            </a:pPr>
            <a:r>
              <a:t>RELIEFMESH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onsolas"/>
              </a:defRPr>
            </a:pPr>
            <a:r>
              <a:t>CRISIS STATE ENGINE  //  POWERED BY MONGODB ATLAS 8.1+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Calibri"/>
              </a:defRPr>
            </a:pPr>
            <a:r>
              <a:t>Vodapally Shreehith Sai  •  Junnuru Sashank  •  Mounika Dola  •  Raskas Sai Karthik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10728655" cy="1737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E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10180015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00ED64"/>
                </a:solidFill>
                <a:latin typeface="Calibri"/>
              </a:defRPr>
            </a:pPr>
            <a:r>
              <a:t>THE CRISIS STATE GUARANTEE:</a:t>
            </a:r>
          </a:p>
          <a:p>
            <a:pPr>
              <a:defRPr sz="1300" i="1">
                <a:solidFill>
                  <a:srgbClr val="FFFFFF"/>
                </a:solidFill>
                <a:latin typeface="Calibri"/>
              </a:defRPr>
            </a:pPr>
            <a:r>
              <a:t>"When physical disaster moves faster than the database, relief efforts collapse.</a:t>
            </a:r>
            <a:br/>
            <a:r>
              <a:t>ReliefMesh turns MongoDB into an active operational nervous system that coordinates field ambulances, rescue convoys, and emergency supply depots with zero cross-document locking."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2542032" cy="1691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828032"/>
            <a:ext cx="2212848" cy="1362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38BDF8"/>
                </a:solidFill>
                <a:latin typeface="Consolas"/>
              </a:defRPr>
            </a:pPr>
            <a:r>
              <a:t>&lt; 5ms OCC CAS</a:t>
            </a:r>
          </a:p>
          <a:p>
            <a:pPr>
              <a:defRPr b="1" sz="1050">
                <a:solidFill>
                  <a:srgbClr val="FFFFFF"/>
                </a:solidFill>
                <a:latin typeface="Calibri"/>
              </a:defRPr>
            </a:pPr>
            <a:r>
              <a:t>Zero Double-Allocations</a:t>
            </a:r>
          </a:p>
          <a:p>
            <a:pPr>
              <a:defRPr sz="880">
                <a:solidFill>
                  <a:srgbClr val="94A3B8"/>
                </a:solidFill>
                <a:latin typeface="Calibri"/>
              </a:defRPr>
            </a:pPr>
            <a:r>
              <a:t>Single-doc atomic CAS (__v + $inc) prevents phantom blood/supply claims under intense contention.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4663440"/>
            <a:ext cx="2542032" cy="1691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1024" y="4828032"/>
            <a:ext cx="2212848" cy="1362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FBBF24"/>
                </a:solidFill>
                <a:latin typeface="Consolas"/>
              </a:defRPr>
            </a:pPr>
            <a:r>
              <a:t>&lt; 80ms DELTA STREAMS</a:t>
            </a:r>
          </a:p>
          <a:p>
            <a:pPr>
              <a:defRPr b="1" sz="1050">
                <a:solidFill>
                  <a:srgbClr val="FFFFFF"/>
                </a:solidFill>
                <a:latin typeface="Calibri"/>
              </a:defRPr>
            </a:pPr>
            <a:r>
              <a:t>Dynamic Flood Rerouting</a:t>
            </a:r>
          </a:p>
          <a:p>
            <a:pPr>
              <a:defRPr sz="880">
                <a:solidFill>
                  <a:srgbClr val="94A3B8"/>
                </a:solidFill>
                <a:latin typeface="Calibri"/>
              </a:defRPr>
            </a:pPr>
            <a:r>
              <a:t>Oplog change streams diff pre/post hazard polygons to flag compromised convoy routes before trucks hit water.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4663440"/>
            <a:ext cx="2542032" cy="1691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4828032"/>
            <a:ext cx="2212848" cy="1362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A855F7"/>
                </a:solidFill>
                <a:latin typeface="Consolas"/>
              </a:defRPr>
            </a:pPr>
            <a:r>
              <a:t>0-LAG SYNONYM FUSION</a:t>
            </a:r>
          </a:p>
          <a:p>
            <a:pPr>
              <a:defRPr b="1" sz="1050">
                <a:solidFill>
                  <a:srgbClr val="FFFFFF"/>
                </a:solidFill>
                <a:latin typeface="Calibri"/>
              </a:defRPr>
            </a:pPr>
            <a:r>
              <a:t>Dialect to Clinical Catalog</a:t>
            </a:r>
          </a:p>
          <a:p>
            <a:pPr>
              <a:defRPr sz="880">
                <a:solidFill>
                  <a:srgbClr val="94A3B8"/>
                </a:solidFill>
                <a:latin typeface="Calibri"/>
              </a:defRPr>
            </a:pPr>
            <a:r>
              <a:t>Atlas Search synonym mappings resolve colloquial distress SMS ('khoon') to warehouse catalog with zero LLM timeout risk.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4663440"/>
            <a:ext cx="2542032" cy="1691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E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4828032"/>
            <a:ext cx="2212848" cy="1362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00ED64"/>
                </a:solidFill>
                <a:latin typeface="Consolas"/>
              </a:defRPr>
            </a:pPr>
            <a:r>
              <a:t>1 UNIFIED CONTROL PLANE</a:t>
            </a:r>
          </a:p>
          <a:p>
            <a:pPr>
              <a:defRPr b="1" sz="1050">
                <a:solidFill>
                  <a:srgbClr val="FFFFFF"/>
                </a:solidFill>
                <a:latin typeface="Calibri"/>
              </a:defRPr>
            </a:pPr>
            <a:r>
              <a:t>Zero Infrastructure Sprawl</a:t>
            </a:r>
          </a:p>
          <a:p>
            <a:pPr>
              <a:defRPr sz="880">
                <a:solidFill>
                  <a:srgbClr val="94A3B8"/>
                </a:solidFill>
                <a:latin typeface="Calibri"/>
              </a:defRPr>
            </a:pPr>
            <a:r>
              <a:t>Consolidates Search, Vector, GeoJSON, ACID, and Streams into one managed engine running on fragile field power.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ED64"/>
                </a:solidFill>
                <a:latin typeface="Calibri"/>
              </a:defRPr>
            </a:pPr>
            <a:r>
              <a:t>SLIDE 01  |  RELIEFMESH MASTER SPECIFICATION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The Operational Coherence Gap in Crisis Response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Ground-level failure modes: When physical conditions mutate faster than emergency data caches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728655" cy="777240"/>
          </a:xfrm>
          <a:prstGeom prst="roundRect">
            <a:avLst/>
          </a:prstGeom>
          <a:solidFill>
            <a:srgbClr val="280E17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8988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F43F5E"/>
                </a:solidFill>
              </a:defRPr>
            </a:pPr>
            <a:r>
              <a:t>THE FATAL FAILURE MODE IN CRISIS OPERATIONS:</a:t>
            </a:r>
          </a:p>
          <a:p>
            <a:pPr>
              <a:defRPr sz="1200" i="1">
                <a:solidFill>
                  <a:srgbClr val="FFFFFF"/>
                </a:solidFill>
              </a:defRPr>
            </a:pPr>
            <a:r>
              <a:t>"Two ambulances. One blood bank with five units left. Both dispatchers see 'available.' Both drive.</a:t>
            </a:r>
            <a:br/>
            <a:r>
              <a:t>That is not a data collection problem — it is an operational state-coherence problem, and it is what ReliefMesh kills."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6217920" cy="41605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368296"/>
            <a:ext cx="588873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F43F5E"/>
                </a:solidFill>
                <a:latin typeface="Calibri"/>
              </a:defRPr>
            </a:pPr>
            <a:r>
              <a:t>THE 5 GROUND-LEVEL CRISIS TRAGEDIES (PAIN POINTS)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5852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38BDF8"/>
                </a:solidFill>
              </a:defRPr>
            </a:pPr>
            <a:r>
              <a:t>• 1. Ambulance Drivers  |  The Phantom Resource Tragedy</a:t>
            </a:r>
          </a:p>
          <a:p>
            <a:pPr>
              <a:spcAft>
                <a:spcPts val="400"/>
              </a:spcAft>
              <a:defRPr sz="950">
                <a:solidFill>
                  <a:srgbClr val="F1F5F9"/>
                </a:solidFill>
              </a:defRPr>
            </a:pPr>
            <a:r>
              <a:t>   Drives 45m through debris; arrives to find another NGO claimed blood 10m ago. Patient dies in transit. (Solved by Single-Doc OCC CAS)</a:t>
            </a:r>
          </a:p>
          <a:p>
            <a:pPr>
              <a:defRPr b="1" sz="1050">
                <a:solidFill>
                  <a:srgbClr val="FBBF24"/>
                </a:solidFill>
              </a:defRPr>
            </a:pPr>
            <a:r>
              <a:t>• 2. Rescue Convoys  |  The Death Corridor Blind Dispatch</a:t>
            </a:r>
          </a:p>
          <a:p>
            <a:pPr>
              <a:spcAft>
                <a:spcPts val="400"/>
              </a:spcAft>
              <a:defRPr sz="950">
                <a:solidFill>
                  <a:srgbClr val="F1F5F9"/>
                </a:solidFill>
              </a:defRPr>
            </a:pPr>
            <a:r>
              <a:t>   Convoys dispatched on yesterday's route; levee breaches at 02:15 AM, truck enters flooded road at 02:40 AM. (Solved by Delta Change Streams)</a:t>
            </a:r>
          </a:p>
          <a:p>
            <a:pPr>
              <a:defRPr b="1" sz="1050">
                <a:solidFill>
                  <a:srgbClr val="A855F7"/>
                </a:solidFill>
              </a:defRPr>
            </a:pPr>
            <a:r>
              <a:t>• 3. Distressed Citizens  |  The Vernacular Exclusion Gap</a:t>
            </a:r>
          </a:p>
          <a:p>
            <a:pPr>
              <a:spcAft>
                <a:spcPts val="400"/>
              </a:spcAft>
              <a:defRPr sz="950">
                <a:solidFill>
                  <a:srgbClr val="F1F5F9"/>
                </a:solidFill>
              </a:defRPr>
            </a:pPr>
            <a:r>
              <a:t>   Mother sends SMS 'khoon chahiye'; English ERPs reject it; cloud LLMs timeout on 2G cell networks. (Solved by Atlas Search Synonyms)</a:t>
            </a:r>
          </a:p>
          <a:p>
            <a:pPr>
              <a:defRPr b="1" sz="1050">
                <a:solidFill>
                  <a:srgbClr val="38BDF8"/>
                </a:solidFill>
              </a:defRPr>
            </a:pPr>
            <a:r>
              <a:t>• 4. Incident Commanders  |  The Inter-Agency Paralysis</a:t>
            </a:r>
          </a:p>
          <a:p>
            <a:pPr>
              <a:spcAft>
                <a:spcPts val="400"/>
              </a:spcAft>
              <a:defRPr sz="950">
                <a:solidFill>
                  <a:srgbClr val="F1F5F9"/>
                </a:solidFill>
              </a:defRPr>
            </a:pPr>
            <a:r>
              <a:t>   Army, NDRF &amp; Red Cross hoard supplies due to post-crisis audit liability &amp; blame games. (Solved by Living Incident Twin + ACID Audit)</a:t>
            </a:r>
          </a:p>
          <a:p>
            <a:pPr>
              <a:defRPr b="1" sz="1050">
                <a:solidFill>
                  <a:srgbClr val="00ED64"/>
                </a:solidFill>
              </a:defRPr>
            </a:pPr>
            <a:r>
              <a:t>• 5. Field IT Operators  |  The Infrastructure Sprawl Collapse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   Operating 5 clusters (Kafka, Postgres, Redis, Elastic) on generator power. Quorum drops -&gt; all goes black. (Solved by 1 Managed Engine)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2240280"/>
            <a:ext cx="4327855" cy="2240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96912" y="2368296"/>
            <a:ext cx="399867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38BDF8"/>
                </a:solidFill>
                <a:latin typeface="Calibri"/>
              </a:defRPr>
            </a:pPr>
            <a:r>
              <a:t>THE INTEGRATION GAP: USHAHIDI vs. SAHANA EDEN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606040"/>
            <a:ext cx="3962095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FBBF24"/>
                </a:solidFill>
              </a:defRPr>
            </a:pPr>
            <a:r>
              <a:t>Ushahidi Model (Crowdsourced Crisis Maps)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Rapid crowdsourcing, but purely observational. Zero reservation integrity, zero inventory tracking. Creates awareness without coordination.</a:t>
            </a:r>
          </a:p>
          <a:p>
            <a:pPr>
              <a:defRPr b="1" sz="1050">
                <a:solidFill>
                  <a:srgbClr val="FBBF24"/>
                </a:solidFill>
              </a:defRPr>
            </a:pPr>
            <a:r>
              <a:t>Sahana Eden Model (Humanitarian ERP)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Structured logistics, but rigid relational schemas that choke under chaotic field updates. Normalized locking cascades into deadlocks during multi-agency rushes.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4617720"/>
            <a:ext cx="4327855" cy="1783080"/>
          </a:xfrm>
          <a:prstGeom prst="roundRect">
            <a:avLst/>
          </a:prstGeom>
          <a:solidFill>
            <a:srgbClr val="062E1E"/>
          </a:solidFill>
          <a:ln w="19050">
            <a:solidFill>
              <a:srgbClr val="00E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96912" y="4745736"/>
            <a:ext cx="399867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0ED64"/>
                </a:solidFill>
                <a:latin typeface="Calibri"/>
              </a:defRPr>
            </a:pPr>
            <a:r>
              <a:t>THE ARCHITECTURAL SOLUTION: RELIEFMESH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983480"/>
            <a:ext cx="39620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ED64"/>
                </a:solidFill>
              </a:defRPr>
            </a:pPr>
            <a:r>
              <a:t>THE FRESHNESS INVARIANT: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"No resource allocation may outlive its physical ground truth."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One unified MongoDB Atlas operational engine closes the loop: Semantic Search -&gt; Geospatial Pruning -&gt; Optimistic Reservation -&gt; Delta Invalidation.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ED64"/>
                </a:solidFill>
                <a:latin typeface="Calibri"/>
              </a:defRPr>
            </a:pPr>
            <a:r>
              <a:t>SLIDE 02  |  RELIEFMESH MASTER SPECIFICATION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Domain Architecture — The 4-R Operational Spine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Four non-negotiable operational gates enforced before any crisis resource is dispatched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2542032" cy="3840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408176"/>
            <a:ext cx="221284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A855F7"/>
                </a:solidFill>
                <a:latin typeface="Calibri"/>
              </a:defRPr>
            </a:pPr>
            <a:r>
              <a:t>1. RELEVANT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691640"/>
            <a:ext cx="2322576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950">
                <a:solidFill>
                  <a:srgbClr val="F43F5E"/>
                </a:solidFill>
              </a:defRPr>
            </a:pPr>
            <a:r>
              <a:t>Human Tragedy Prevented:</a:t>
            </a:r>
            <a:br/>
            <a:r>
              <a:t>The Vernacular Exclusion Gap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Mechanism:</a:t>
            </a:r>
            <a:br/>
            <a:r>
              <a:t>Hybrid Semantic Vector + Lexical Keyword Search with Dialect Synonyms</a:t>
            </a:r>
          </a:p>
          <a:p>
            <a:pPr>
              <a:spcAft>
                <a:spcPts val="800"/>
              </a:spcAft>
              <a:defRPr b="1" sz="950">
                <a:solidFill>
                  <a:srgbClr val="A855F7"/>
                </a:solidFill>
              </a:defRPr>
            </a:pPr>
            <a:r>
              <a:t>MongoDB Primitive:</a:t>
            </a:r>
            <a:br/>
            <a:r>
              <a:t>Atlas Vector Search + Text Search via $rankFusion (8.1+)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External Boundary:</a:t>
            </a:r>
            <a:br/>
            <a:r>
              <a:t>Whisper API (Audio)</a:t>
            </a:r>
            <a:br/>
            <a:r>
              <a:t>OpenAI Embedding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280160"/>
            <a:ext cx="2542032" cy="3840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21024" y="1408176"/>
            <a:ext cx="221284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38BDF8"/>
                </a:solidFill>
                <a:latin typeface="Calibri"/>
              </a:defRPr>
            </a:pPr>
            <a:r>
              <a:t>2. REACHABLE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91640"/>
            <a:ext cx="2322576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950">
                <a:solidFill>
                  <a:srgbClr val="F43F5E"/>
                </a:solidFill>
              </a:defRPr>
            </a:pPr>
            <a:r>
              <a:t>Human Tragedy Prevented:</a:t>
            </a:r>
            <a:br/>
            <a:r>
              <a:t>The Death Corridor Blind Dispatch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Mechanism:</a:t>
            </a:r>
            <a:br/>
            <a:r>
              <a:t>Geospatial Boundary Pre-filtering + Active Hazard Polygon Exclusion</a:t>
            </a:r>
          </a:p>
          <a:p>
            <a:pPr>
              <a:spcAft>
                <a:spcPts val="800"/>
              </a:spcAft>
              <a:defRPr b="1" sz="950">
                <a:solidFill>
                  <a:srgbClr val="38BDF8"/>
                </a:solidFill>
              </a:defRPr>
            </a:pPr>
            <a:r>
              <a:t>MongoDB Primitive:</a:t>
            </a:r>
            <a:br/>
            <a:r>
              <a:t>2dsphere Indexing with $geoIntersects on Routes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External Boundary:</a:t>
            </a:r>
            <a:br/>
            <a:r>
              <a:t>OSRM Turn-by-Turn Router</a:t>
            </a:r>
            <a:br/>
            <a:r>
              <a:t>Flood-Model Sidecar (HEC-RAS)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280160"/>
            <a:ext cx="2542032" cy="3840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E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1408176"/>
            <a:ext cx="221284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0ED64"/>
                </a:solidFill>
                <a:latin typeface="Calibri"/>
              </a:defRPr>
            </a:pPr>
            <a:r>
              <a:t>3. RESERVED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1691640"/>
            <a:ext cx="2322576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950">
                <a:solidFill>
                  <a:srgbClr val="F43F5E"/>
                </a:solidFill>
              </a:defRPr>
            </a:pPr>
            <a:r>
              <a:t>Human Tragedy Prevented:</a:t>
            </a:r>
            <a:br/>
            <a:r>
              <a:t>The Phantom Resource Tragedy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Mechanism:</a:t>
            </a:r>
            <a:br/>
            <a:r>
              <a:t>Lock-free Single-Doc OCC Commit (CAS) + Multi-Doc ACID Audit Logs</a:t>
            </a:r>
          </a:p>
          <a:p>
            <a:pPr>
              <a:spcAft>
                <a:spcPts val="800"/>
              </a:spcAft>
              <a:defRPr b="1" sz="950">
                <a:solidFill>
                  <a:srgbClr val="00ED64"/>
                </a:solidFill>
              </a:defRPr>
            </a:pPr>
            <a:r>
              <a:t>MongoDB Primitive:</a:t>
            </a:r>
            <a:br/>
            <a:r>
              <a:t>Single-Doc updateOne with __v;</a:t>
            </a:r>
            <a:br/>
            <a:r>
              <a:t>ACID Multi-Doc Transactions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External Boundary:</a:t>
            </a:r>
            <a:br/>
            <a:r>
              <a:t>None (Core WiredTiger Engine)</a:t>
            </a:r>
            <a:br/>
            <a:r>
              <a:t>Runs completely in database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280160"/>
            <a:ext cx="2542032" cy="3840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1408176"/>
            <a:ext cx="221284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FBBF24"/>
                </a:solidFill>
                <a:latin typeface="Calibri"/>
              </a:defRPr>
            </a:pPr>
            <a:r>
              <a:t>4. RESILIENT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5984" y="1691640"/>
            <a:ext cx="2322576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950">
                <a:solidFill>
                  <a:srgbClr val="F43F5E"/>
                </a:solidFill>
              </a:defRPr>
            </a:pPr>
            <a:r>
              <a:t>Human Tragedy Prevented:</a:t>
            </a:r>
            <a:br/>
            <a:r>
              <a:t>The Static Plan Paralysis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Mechanism:</a:t>
            </a:r>
            <a:br/>
            <a:r>
              <a:t>Event-Driven Delta Invalidation on Expanding Flood Contours</a:t>
            </a:r>
          </a:p>
          <a:p>
            <a:pPr>
              <a:spcAft>
                <a:spcPts val="800"/>
              </a:spcAft>
              <a:defRPr b="1" sz="950">
                <a:solidFill>
                  <a:srgbClr val="FBBF24"/>
                </a:solidFill>
              </a:defRPr>
            </a:pPr>
            <a:r>
              <a:t>MongoDB Primitive:</a:t>
            </a:r>
            <a:br/>
            <a:r>
              <a:t>Native Change Streams with Pre/Post Images + ASP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External Boundary:</a:t>
            </a:r>
            <a:br/>
            <a:r>
              <a:t>River Gauge IoT Telemetry</a:t>
            </a:r>
            <a:br/>
            <a:r>
              <a:t>MQTT Gateway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03520"/>
            <a:ext cx="5257800" cy="1188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E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431536"/>
            <a:ext cx="49286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0ED64"/>
                </a:solidFill>
                <a:latin typeface="Calibri"/>
              </a:defRPr>
            </a:pPr>
            <a:r>
              <a:t>HOT PATH: SINGLE-DOCUMENT OCC ALLOCATION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23560"/>
            <a:ext cx="4983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1F5F9"/>
                </a:solidFill>
              </a:defRPr>
            </a:pPr>
            <a:r>
              <a:t>• Uses atomic conditional update: updateOne({ _id, __v, availableQuantity: { $gte: qty } }, { $inc: { __v: 1 } })</a:t>
            </a:r>
            <a:br/>
            <a:r>
              <a:t>• WiredTiger document-level write lock: zero distributed lock waits, zero deadlock risk</a:t>
            </a:r>
            <a:br/>
            <a:r>
              <a:t>• Contention surfaces as cheap failed predicate (modifiedCount: 0) triggering instant jittered rematch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2375" y="5303520"/>
            <a:ext cx="5257800" cy="1188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6967" y="5431536"/>
            <a:ext cx="49286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38BDF8"/>
                </a:solidFill>
                <a:latin typeface="Calibri"/>
              </a:defRPr>
            </a:pPr>
            <a:r>
              <a:t>CROSS-BOUNDARY: MULTI-DOCUMENT ACID TRANSACTIONS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9535" y="5623560"/>
            <a:ext cx="4983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1F5F9"/>
                </a:solidFill>
              </a:defRPr>
            </a:pPr>
            <a:r>
              <a:t>• Reserved strictly for multi-entity lifecycle commits spanning separate collections</a:t>
            </a:r>
            <a:br/>
            <a:r>
              <a:t>• Atomically inserts active_mission record + creates resource_inventory allocation lease + appends audit_log</a:t>
            </a:r>
            <a:br/>
            <a:r>
              <a:t>• Eliminates inter-agency blame games: non-repudiable cryptographic logging across agency boundaries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ED64"/>
                </a:solidFill>
                <a:latin typeface="Calibri"/>
              </a:defRPr>
            </a:pPr>
            <a:r>
              <a:t>SLIDE 03  |  RELIEFMESH MASTER SPECIFICATION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System Architecture &amp; Dual-Branch Telemetry Ingestion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High-throughput time-series streaming combined with reactive spatial barrier calculation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943600" cy="5120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408176"/>
            <a:ext cx="56144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0ED64"/>
                </a:solidFill>
                <a:latin typeface="Calibri"/>
              </a:defRPr>
            </a:pPr>
            <a:r>
              <a:t>END-TO-END REACTIVE PIPELINE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A855F7"/>
                </a:solidFill>
              </a:defRPr>
            </a:pPr>
            <a:r>
              <a:t>1. FIELD INGESTION LAYER</a:t>
            </a:r>
          </a:p>
          <a:p>
            <a:pPr>
              <a:spcAft>
                <a:spcPts val="600"/>
              </a:spcAft>
              <a:defRPr sz="850">
                <a:solidFill>
                  <a:srgbClr val="F1F5F9"/>
                </a:solidFill>
              </a:defRPr>
            </a:pPr>
            <a:r>
              <a:t>Citizen SMS/Voice via Twilio -&gt; Whisper API -&gt; Structured Living Incident Doc (GeoJSON + Embeddings)</a:t>
            </a:r>
            <a:br/>
            <a:r>
              <a:t>IoT River Gauges -&gt; MQTT Gateway -&gt; Real-time raw telemetry stream</a:t>
            </a:r>
          </a:p>
          <a:p>
            <a:pPr>
              <a:defRPr b="1" sz="1000">
                <a:solidFill>
                  <a:srgbClr val="38BDF8"/>
                </a:solidFill>
              </a:defRPr>
            </a:pPr>
            <a:r>
              <a:t>2. ATLAS STREAM PROCESSING (ASP DUAL-BRANCH)</a:t>
            </a:r>
          </a:p>
          <a:p>
            <a:pPr>
              <a:spcAft>
                <a:spcPts val="600"/>
              </a:spcAft>
              <a:defRPr sz="850">
                <a:solidFill>
                  <a:srgbClr val="F1F5F9"/>
                </a:solidFill>
              </a:defRPr>
            </a:pPr>
            <a:r>
              <a:t>Branch A: Ingests thousands of gauge measurements into sensor_telemetry time series collection</a:t>
            </a:r>
            <a:br/>
            <a:r>
              <a:t>Branch B: $setWindowFields computes $derivative (rate-of-rise) over 5-min tumbling windows</a:t>
            </a:r>
          </a:p>
          <a:p>
            <a:pPr>
              <a:defRPr b="1" sz="1000">
                <a:solidFill>
                  <a:srgbClr val="FBBF24"/>
                </a:solidFill>
              </a:defRPr>
            </a:pPr>
            <a:r>
              <a:t>3. THE HYDRAULIC MODEL BOUNDARY (HEC-RAS / HYDRO-ML)</a:t>
            </a:r>
          </a:p>
          <a:p>
            <a:pPr>
              <a:spcAft>
                <a:spcPts val="600"/>
              </a:spcAft>
              <a:defRPr sz="850">
                <a:solidFill>
                  <a:srgbClr val="F1F5F9"/>
                </a:solidFill>
              </a:defRPr>
            </a:pPr>
            <a:r>
              <a:t>When rate-of-rise breaches 25 cm/min threshold -&gt; ASP emits alert to external Flood Model Sidecar</a:t>
            </a:r>
            <a:br/>
            <a:r>
              <a:t>Sidecar computes 2D Digital Elevation Model (DEM) fluid flow and writes Polygon to hazard_perimeters</a:t>
            </a:r>
          </a:p>
          <a:p>
            <a:pPr>
              <a:defRPr b="1" sz="1000">
                <a:solidFill>
                  <a:srgbClr val="F43F5E"/>
                </a:solidFill>
              </a:defRPr>
            </a:pPr>
            <a:r>
              <a:t>4. REACTIVE CHANGE STREAM DAEMON</a:t>
            </a:r>
          </a:p>
          <a:p>
            <a:pPr>
              <a:spcAft>
                <a:spcPts val="600"/>
              </a:spcAft>
              <a:defRPr sz="850">
                <a:solidFill>
                  <a:srgbClr val="F1F5F9"/>
                </a:solidFill>
              </a:defRPr>
            </a:pPr>
            <a:r>
              <a:t>Change Stream with Pre/Post Images calculates polygon delta (newly flooded area)</a:t>
            </a:r>
            <a:br/>
            <a:r>
              <a:t>Evaluates $geoIntersects against active_missions route LineString -&gt; Flags compromised convoys</a:t>
            </a:r>
          </a:p>
          <a:p>
            <a:pPr>
              <a:defRPr b="1" sz="1000">
                <a:solidFill>
                  <a:srgbClr val="00ED64"/>
                </a:solidFill>
              </a:defRPr>
            </a:pPr>
            <a:r>
              <a:t>5. RE-ROUTING &amp; ATOMIC DISPATCH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r>
              <a:t>OSRM sidecar computes bypass detour around active flood polygons</a:t>
            </a:r>
            <a:br/>
            <a:r>
              <a:t>Dispatcher commits revised mission route via optimistic single-document reservation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280160"/>
            <a:ext cx="4602175" cy="2468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22592" y="1408176"/>
            <a:ext cx="427299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F43F5E"/>
                </a:solidFill>
                <a:latin typeface="Calibri"/>
              </a:defRPr>
            </a:pPr>
            <a:r>
              <a:t>GOTCHA #1: TIME SERIES DUAL-BRANCHING (ASP)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645920"/>
            <a:ext cx="4236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1F5F9"/>
                </a:solidFill>
              </a:defRPr>
            </a:pPr>
            <a:r>
              <a:t>The Internal MongoDB Constraint:</a:t>
            </a:r>
            <a:br/>
            <a:r>
              <a:t>Time Series collections use columnar block compression for high ingest throughput. Measurements are stored in compressed buckets — NOT discrete document mutations.</a:t>
            </a:r>
            <a:br/>
            <a:br/>
            <a:r>
              <a:t>-&gt; TIME SERIES COLLECTIONS DO NOT EMIT CHANGE STREAMS.</a:t>
            </a:r>
            <a:br/>
            <a:br/>
            <a:r>
              <a:t>The Dual-Branch Fix:</a:t>
            </a:r>
            <a:br/>
            <a:r>
              <a:t>Atlas Stream Processing (ASP) branches stream before storage: Branch A writes compressed historical series; Branch B fires operational threshold alerts.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931920"/>
            <a:ext cx="4602175" cy="2468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22592" y="4059936"/>
            <a:ext cx="427299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FBBF24"/>
                </a:solidFill>
                <a:latin typeface="Calibri"/>
              </a:defRPr>
            </a:pPr>
            <a:r>
              <a:t>GOTCHA #2: THE POLYGON FABRICATION 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4297680"/>
            <a:ext cx="4236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1F5F9"/>
                </a:solidFill>
              </a:defRPr>
            </a:pPr>
            <a:r>
              <a:t>The Physical Boundary Reality:</a:t>
            </a:r>
            <a:br/>
            <a:r>
              <a:t>A river gauge reading (water level at lat/long point) CANNOT magically produce a spatial flood polygon inside a database query. Inundation requires Digital Elevation Models (DEM) and fluid physics.</a:t>
            </a:r>
            <a:br/>
            <a:br/>
            <a:r>
              <a:t>The Honest Architectural Boundary:</a:t>
            </a:r>
            <a:br/>
            <a:r>
              <a:t>• MongoDB ASP detects hydrological rise-rate change</a:t>
            </a:r>
            <a:br/>
            <a:r>
              <a:t>• External Flood-Model Sidecar (HEC-RAS / Hydro-ML) calculates predicted flood perimeter geometry</a:t>
            </a:r>
            <a:br/>
            <a:r>
              <a:t>• MongoDB owns 2dsphere spatial indexing &amp; reactive mission invalidation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ED64"/>
                </a:solidFill>
                <a:latin typeface="Calibri"/>
              </a:defRPr>
            </a:pPr>
            <a:r>
              <a:t>SLIDE 04  |  RELIEFMESH MASTER SPECIFICATION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Core Technical Deep-Dive (MongoDB 8.1+ Code Level)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Uniform $rankFusion, vernacular synonyms, adaptive retrieval gating probe, and single-doc CAS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257800" cy="2468880"/>
          </a:xfrm>
          <a:prstGeom prst="roundRect">
            <a:avLst/>
          </a:prstGeom>
          <a:solidFill>
            <a:srgbClr val="030712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408176"/>
            <a:ext cx="49286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A855F7"/>
                </a:solidFill>
                <a:latin typeface="Calibri"/>
              </a:defRPr>
            </a:pPr>
            <a:r>
              <a:t>1. INDEX SPECIFICATIONS &amp; ATLAS SEARCH SYNONYMS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4983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38BDF8"/>
                </a:solidFill>
                <a:latin typeface="Consolas"/>
              </a:defRPr>
            </a:pPr>
            <a:r>
              <a:t>// 2dsphere Geospatial Indexes</a:t>
            </a:r>
            <a:br/>
            <a:r>
              <a:t>db.resource_inventory.createIndex({ location: "2dsphere" });</a:t>
            </a:r>
            <a:br/>
            <a:r>
              <a:t>db.hazard_perimeters.createIndex({ polygon: "2dsphere" });</a:t>
            </a:r>
            <a:br/>
            <a:r>
              <a:t>db.active_missions.createIndex({ "route.geometry": "2dsphere" });</a:t>
            </a:r>
            <a:br/>
            <a:br/>
            <a:r>
              <a:t>// Atlas Search Synonyms (synonym_mappings collection)</a:t>
            </a:r>
            <a:br/>
            <a:r>
              <a:t>{ mappingType: "equivalent", synonyms: ["khoon", "blood", "rakt", "lahu"] }</a:t>
            </a:r>
            <a:br/>
            <a:r>
              <a:t>{ mappingType: "equivalent", synonyms: ["o-negative", "o neg", "o-neg"] }</a:t>
            </a:r>
            <a:br/>
            <a:r>
              <a:t>-&gt; Dialect terms map to clinical SKUs directly inside Lucene without LLM API calls!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257800" cy="2468880"/>
          </a:xfrm>
          <a:prstGeom prst="roundRect">
            <a:avLst/>
          </a:prstGeom>
          <a:solidFill>
            <a:srgbClr val="03071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4059936"/>
            <a:ext cx="49286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38BDF8"/>
                </a:solidFill>
                <a:latin typeface="Calibri"/>
              </a:defRPr>
            </a:pPr>
            <a:r>
              <a:t>2b. ADAPTIVE RETRIEVAL GATING ($searchMeta PROBE)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251960"/>
            <a:ext cx="4983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ED64"/>
                </a:solidFill>
                <a:latin typeface="Consolas"/>
              </a:defRPr>
            </a:pPr>
            <a:r>
              <a:t>// Step 1: Probe metadata-only count (zero document fetch)</a:t>
            </a:r>
            <a:br/>
            <a:r>
              <a:t>const probe = await db.resource_inventory.aggregate([</a:t>
            </a:r>
            <a:br/>
            <a:r>
              <a:t>  { $searchMeta: { index: "vector_and_keyword_index",</a:t>
            </a:r>
            <a:br/>
            <a:r>
              <a:t>      compound: { must: [{ text: { query: "khoon o-neg", path: "itemDescription", synonyms: "disaster_synonyms", matchCriteria: "any" } }],</a:t>
            </a:r>
            <a:br/>
            <a:r>
              <a:t>                  filter: [{ equals: { path: "status", value: "available" } }] }, count: { type: "total" } } }</a:t>
            </a:r>
            <a:br/>
            <a:r>
              <a:t>]).toArray();</a:t>
            </a:r>
            <a:br/>
            <a:br/>
            <a:r>
              <a:t>// Step 2: Bounded expansion (if count &lt; 3 -&gt; radius = min(100, radius*2))</a:t>
            </a:r>
            <a:br/>
            <a:r>
              <a:t>// Step 3: Embedding preflight (3s timeout -&gt; degraded mode drops semantic branch)</a:t>
            </a:r>
            <a:br/>
            <a:r>
              <a:t>-&gt; Self-healing retrieval: observes recall, widens net, survives cloud AI outages!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2375" y="1280160"/>
            <a:ext cx="5257800" cy="3017520"/>
          </a:xfrm>
          <a:prstGeom prst="roundRect">
            <a:avLst/>
          </a:prstGeom>
          <a:solidFill>
            <a:srgbClr val="030712"/>
          </a:solidFill>
          <a:ln w="19050">
            <a:solidFill>
              <a:srgbClr val="00E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6967" y="1408176"/>
            <a:ext cx="49286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0ED64"/>
                </a:solidFill>
                <a:latin typeface="Calibri"/>
              </a:defRPr>
            </a:pPr>
            <a:r>
              <a:t>2. UNIFORM $rankFusion PIPELINE (MONGODB 8.1+)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9535" y="1600200"/>
            <a:ext cx="4983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80">
                <a:solidFill>
                  <a:srgbClr val="F1F5F9"/>
                </a:solidFill>
                <a:latin typeface="Consolas"/>
              </a:defRPr>
            </a:pPr>
            <a:r>
              <a:t>db.resource_inventory.aggregate([</a:t>
            </a:r>
            <a:br/>
            <a:r>
              <a:t>  { $rankFusion: {</a:t>
            </a:r>
            <a:br/>
            <a:r>
              <a:t>      input: {</a:t>
            </a:r>
            <a:br/>
            <a:r>
              <a:t>        pipelines: {</a:t>
            </a:r>
            <a:br/>
            <a:r>
              <a:t>          semantic: [</a:t>
            </a:r>
            <a:br/>
            <a:r>
              <a:t>            { $vectorSearch: { index: "vector_and_keyword_index", path: "embedding",</a:t>
            </a:r>
            <a:br/>
            <a:r>
              <a:t>                queryVector: emb, numCandidates: 100, limit: 20, filter: { status: "available" } } }</a:t>
            </a:r>
            <a:br/>
            <a:r>
              <a:t>          ],</a:t>
            </a:r>
            <a:br/>
            <a:r>
              <a:t>          keyword: [</a:t>
            </a:r>
            <a:br/>
            <a:r>
              <a:t>            { $search: { index: "vector_and_keyword_index",</a:t>
            </a:r>
            <a:br/>
            <a:r>
              <a:t>                text: { query: reqText, path: "itemDescription", synonyms: "disaster_synonyms", matchCriteria: "any" } } },</a:t>
            </a:r>
            <a:br/>
            <a:r>
              <a:t>            { $match: { status: "available" } }, { $limit: 20 }</a:t>
            </a:r>
            <a:br/>
            <a:r>
              <a:t>          ],</a:t>
            </a:r>
            <a:br/>
            <a:r>
              <a:t>          proximity: [</a:t>
            </a:r>
            <a:br/>
            <a:r>
              <a:t>            { $geoNear: { near: userPt, spherical: true, query: { status: "available" } } },</a:t>
            </a:r>
            <a:br/>
            <a:r>
              <a:t>            { $limit: 20 }</a:t>
            </a:r>
            <a:br/>
            <a:r>
              <a:t>          ]</a:t>
            </a:r>
            <a:br/>
            <a:r>
              <a:t>        }</a:t>
            </a:r>
            <a:br/>
            <a:r>
              <a:t>      }</a:t>
            </a:r>
            <a:br/>
            <a:r>
              <a:t>      // Weights omitted: Uniform default RRF weights (1 each) preserve zero score calibration!</a:t>
            </a:r>
            <a:br/>
            <a:r>
              <a:t>  } }</a:t>
            </a:r>
            <a:br/>
            <a:r>
              <a:t>]);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2375" y="4480560"/>
            <a:ext cx="5257800" cy="1920240"/>
          </a:xfrm>
          <a:prstGeom prst="roundRect">
            <a:avLst/>
          </a:prstGeom>
          <a:solidFill>
            <a:srgbClr val="030712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6967" y="4608576"/>
            <a:ext cx="49286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FBBF24"/>
                </a:solidFill>
                <a:latin typeface="Calibri"/>
              </a:defRPr>
            </a:pPr>
            <a:r>
              <a:t>3. HIGH-CONTENTION COMMIT (OCC CAS WITH $slice)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9535" y="4800600"/>
            <a:ext cx="4983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8BDF8"/>
                </a:solidFill>
                <a:latin typeface="Consolas"/>
              </a:defRPr>
            </a:pPr>
            <a:r>
              <a:t>const res = await db.resource_inventory.updateOne(</a:t>
            </a:r>
            <a:br/>
            <a:r>
              <a:t>  { _id: depotId, __v: curV, availableQuantity: { $gte: reqQty }, status: "available" },</a:t>
            </a:r>
            <a:br/>
            <a:r>
              <a:t>  { $inc: { availableQuantity: -reqQty, __v: 1 },</a:t>
            </a:r>
            <a:br/>
            <a:r>
              <a:t>    $push: { allocations: { $each: [{ incId, qty, at: new Date() }], $slice: -10 } } }</a:t>
            </a:r>
            <a:br/>
            <a:r>
              <a:t>);</a:t>
            </a:r>
            <a:br/>
            <a:r>
              <a:t>// 'Search Proposes, CAS Disposes': Index lag is safe; live state validated at commit!</a:t>
            </a:r>
            <a:br/>
            <a:r>
              <a:t>// modifiedCount === 0 triggers jittered rematch against Candidate #2, #3, or #4.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ED64"/>
                </a:solidFill>
                <a:latin typeface="Calibri"/>
              </a:defRPr>
            </a:pPr>
            <a:r>
              <a:t>SLIDE 05  |  RELIEFMESH MASTER SPECIFICATION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The Reactive Loop — Delta-Scoped Invalidation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Oplog-backed change streams with pre/post-images, spatial delta diffing, and cold-start resync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669280" cy="5120640"/>
          </a:xfrm>
          <a:prstGeom prst="roundRect">
            <a:avLst/>
          </a:prstGeom>
          <a:solidFill>
            <a:srgbClr val="03071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408176"/>
            <a:ext cx="534009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38BDF8"/>
                </a:solidFill>
                <a:latin typeface="Calibri"/>
              </a:defRPr>
            </a:pPr>
            <a:r>
              <a:t>DELTA-SCOPED INVALIDATION WITH PRE/POST-IMAGES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1F5F9"/>
                </a:solidFill>
                <a:latin typeface="Consolas"/>
              </a:defRPr>
            </a:pPr>
            <a:r>
              <a:t>// 1. Enable Pre/Post-Images on Hazard Collection</a:t>
            </a:r>
            <a:br/>
            <a:r>
              <a:t>db.runCommand({ collMod: "hazard_perimeters", changeStreamPreAndPostImages: { enabled: true } });</a:t>
            </a:r>
            <a:br/>
            <a:br/>
            <a:r>
              <a:t>// 2. Watch Change Stream with targeted polygon filter</a:t>
            </a:r>
            <a:br/>
            <a:r>
              <a:t>const stream = db.hazard_perimeters.watch(</a:t>
            </a:r>
            <a:br/>
            <a:r>
              <a:t>  [{ $match: { operationType: { $in: ["insert", "update", "replace"] },</a:t>
            </a:r>
            <a:br/>
            <a:r>
              <a:t>               "updateDescription.updatedFields.polygon": { $exists: true } } }],</a:t>
            </a:r>
            <a:br/>
            <a:r>
              <a:t>  { fullDocumentBeforeChange: "whenAvailable" }</a:t>
            </a:r>
            <a:br/>
            <a:r>
              <a:t>);</a:t>
            </a:r>
            <a:br/>
            <a:br/>
            <a:r>
              <a:t>stream.on("change", async (change) =&gt; {</a:t>
            </a:r>
            <a:br/>
            <a:r>
              <a:t>  const postPolygon = change.fullDocument.polygon;</a:t>
            </a:r>
            <a:br/>
            <a:r>
              <a:t>  const prePolygon  = change.fullDocumentBeforeChange?.polygon;</a:t>
            </a:r>
            <a:br/>
            <a:br/>
            <a:r>
              <a:t>  // Calculate newly flooded delta area (postPolygon - prePolygon)</a:t>
            </a:r>
            <a:br/>
            <a:r>
              <a:t>  const deltaArea = prePolygon ? turf.difference(postPolygon, prePolygon) : postPolygon;</a:t>
            </a:r>
            <a:br/>
            <a:br/>
            <a:r>
              <a:t>  // Invalidate ONLY missions crossing the newly expanded flood area</a:t>
            </a:r>
            <a:br/>
            <a:r>
              <a:t>  const compromised = await db.active_missions.find({</a:t>
            </a:r>
            <a:br/>
            <a:r>
              <a:t>    status: "in_transit",</a:t>
            </a:r>
            <a:br/>
            <a:r>
              <a:t>    "route.geometry": { $geoIntersects: { $geometry: deltaArea } }</a:t>
            </a:r>
            <a:br/>
            <a:r>
              <a:t>  }).toArray();</a:t>
            </a:r>
            <a:br/>
            <a:br/>
            <a:r>
              <a:t>  for (const m of compromised) {</a:t>
            </a:r>
            <a:br/>
            <a:r>
              <a:t>    await db.active_missions.updateOne(</a:t>
            </a:r>
            <a:br/>
            <a:r>
              <a:t>      { _id: m._id, __v: m.__v },</a:t>
            </a:r>
            <a:br/>
            <a:r>
              <a:t>      { $set: { status: "route_compromised", flaggedAt: new Date() }, $inc: { __v: 1 } }</a:t>
            </a:r>
            <a:br/>
            <a:r>
              <a:t>    );</a:t>
            </a:r>
            <a:br/>
            <a:r>
              <a:t>    rerouteWorker.dispatch(m._id); // Trigger OSRM detour</a:t>
            </a:r>
            <a:br/>
            <a:r>
              <a:t>  }</a:t>
            </a:r>
            <a:br/>
            <a:r>
              <a:t>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280160"/>
            <a:ext cx="4876495" cy="2468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48272" y="1408176"/>
            <a:ext cx="454731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A855F7"/>
                </a:solidFill>
                <a:latin typeface="Calibri"/>
              </a:defRPr>
            </a:pPr>
            <a:r>
              <a:t>STREAM CHECKPOINTING &amp; COLD-START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645920"/>
            <a:ext cx="451073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1F5F9"/>
                </a:solidFill>
              </a:defRPr>
            </a:pPr>
            <a:r>
              <a:t>Oplog-Backed Checkpoints:</a:t>
            </a:r>
            <a:br/>
            <a:r>
              <a:t>Workers store resumeToken (_id of change event) in stream_checkpoints. Reconnect uses .watch([], { resumeAfter: lastSavedToken }).</a:t>
            </a:r>
            <a:br/>
            <a:br/>
            <a:r>
              <a:t>Handling ChangeStreamHistoryLost (Oplog Expiry):</a:t>
            </a:r>
            <a:br/>
            <a:r>
              <a:t>If worker downtime &gt; oplog retention window, token expires. The daemon catches error 286:</a:t>
            </a:r>
            <a:br/>
            <a:r>
              <a:t>1. Initiates Cold-Start Full Resync: scans ALL active in_transit missions against current active hazard perimeters via $geoIntersects</a:t>
            </a:r>
            <a:br/>
            <a:r>
              <a:t>2. Checkpoints latest oplog cluster timestamp</a:t>
            </a:r>
            <a:br/>
            <a:r>
              <a:t>3. Re-establishes clean Change Stream cursor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3931920"/>
            <a:ext cx="4876495" cy="2468880"/>
          </a:xfrm>
          <a:prstGeom prst="roundRect">
            <a:avLst/>
          </a:prstGeom>
          <a:solidFill>
            <a:srgbClr val="062E1E"/>
          </a:solidFill>
          <a:ln w="19050">
            <a:solidFill>
              <a:srgbClr val="00E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48272" y="4059936"/>
            <a:ext cx="454731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0ED64"/>
                </a:solidFill>
                <a:latin typeface="Calibri"/>
              </a:defRPr>
            </a:pPr>
            <a:r>
              <a:t>THE FRESHNESS INVARIANT BOUND &amp; 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4297680"/>
            <a:ext cx="451073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Mathematical Bound on Freshness:</a:t>
            </a:r>
            <a:br/>
            <a:r>
              <a:t>Δt_stale &lt;= t_oplog_propagation + t_spatial_eval + t_worker_commit</a:t>
            </a:r>
            <a:br/>
            <a:br/>
            <a:r>
              <a:t>Under real-world disaster simulation:</a:t>
            </a:r>
            <a:br/>
            <a:r>
              <a:t>• Invalidation latency: &lt; 80ms from polygon write to mission flag</a:t>
            </a:r>
            <a:br/>
            <a:r>
              <a:t>• OSRM detour route calculated &amp; dispatched: &lt; 450ms</a:t>
            </a:r>
            <a:br/>
            <a:r>
              <a:t>• Total reaction time: &lt; 600ms (Convoy rerouted kilometers before approaching flood waters)</a:t>
            </a:r>
            <a:br/>
            <a:br/>
            <a:r>
              <a:t>Zero Polling. Zero Kafka. The database detects the river breach before dispatchers see news reports.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ED64"/>
                </a:solidFill>
                <a:latin typeface="Calibri"/>
              </a:defRPr>
            </a:pPr>
            <a:r>
              <a:t>SLIDE 06  |  RELIEFMESH MASTER SPECIFICATION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Honest Architecture Audit — PostgreSQL vs. MongoDB Atlas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De-rigged trade-off matrix: Conceding road routing, auditing CAS parity, and establishing operational survival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926080"/>
                <a:gridCol w="2926080"/>
                <a:gridCol w="2956255"/>
              </a:tblGrid>
              <a:tr h="65532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0ED64"/>
                          </a:solidFill>
                          <a:latin typeface="Calibri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0ED64"/>
                          </a:solidFill>
                          <a:latin typeface="Calibri"/>
                        </a:defRPr>
                      </a:pPr>
                      <a:r>
                        <a:t>PostgreSQL (+PostGIS / pgvector) + Debezium + Kafka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0ED64"/>
                          </a:solidFill>
                          <a:latin typeface="Calibri"/>
                        </a:defRPr>
                      </a:pPr>
                      <a:r>
                        <a:t>MongoDB Atlas (8.1+)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0ED64"/>
                          </a:solidFill>
                          <a:latin typeface="Calibri"/>
                        </a:defRPr>
                      </a:pPr>
                      <a:r>
                        <a:t>Architectural Verdict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Road Network Routing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WINNER: Native pgRouting computes Dijkstra/A* shortest path directly in SQL.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Externalized to OSRM sidecar. $graphLookup is inadequate for road graphs.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Concession: MongoDB does not do road routing. OSRM owns road graphs; MongoDB owns spatial barriers.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Relational Integrity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WINNER: Declarative foreign keys across normalized schemas with compile-time checks.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Document model + schema validation via $and: [ { $jsonSchema }, { $expr } ].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PostgreSQL excels at fragmented tables; MongoDB excels at cohesive operational aggregates.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Single-Row CAS Contention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PARITY: Under default READ COMMITTED, concurrent UPDATEs re-evaluate WHERE -&gt; 0 rows.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PARITY: Single-document CAS ($inc: { __v: 1 }) returns modifiedCount: 0.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Honest Audit: Both engines handle single-row CAS with cheap failed predicates. Edge is the loop, not the CAS.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Reactive CDC Loop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Requires external Debezium workers + Kafka cluster + replication slots to stream changes.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WINNER: Native Resumable Change Streams backed by the oplog with pre/post-images.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Core Differentiator: MongoDB eliminates Kafka and Debezium for this bounded loop without infrastructure sprawl.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Operational Control Plane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3 independent distributed systems to deploy, monitor, and sync (PostgreSQL + Debezium + Kafka).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WINNER: 1 managed data control plane (Vector + Geo + Transactions + Streams).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SURVIVAL FEATURE: Under diesel generator cuts and 80% packet loss, restarting 1 engine saves lives vs debugging 5.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5394960"/>
            <a:ext cx="10728655" cy="1097280"/>
          </a:xfrm>
          <a:prstGeom prst="roundRect">
            <a:avLst/>
          </a:prstGeom>
          <a:solidFill>
            <a:srgbClr val="062E1E"/>
          </a:solidFill>
          <a:ln w="19050">
            <a:solidFill>
              <a:srgbClr val="00E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5522976"/>
            <a:ext cx="1039947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0ED64"/>
                </a:solidFill>
                <a:latin typeface="Calibri"/>
              </a:defRPr>
            </a:pPr>
            <a:r>
              <a:t>THE CLOSING SUMMARY: THE VALUE PROPOSITION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1500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0ED64"/>
                </a:solidFill>
              </a:defRPr>
            </a:pPr>
            <a:r>
              <a:t>"MongoDB turns changing disaster state into fresh operational decisions."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ReliefMesh enforces the freshness invariant: no allocation outlives its ground truth. We did not choose MongoDB because it wins every micro-benchmark; we chose it because crisis coordination requires an integrated reactive loop — retrieval, spatial safety, atomic commitment, and streaming invalidation — in a single, resilient data control plane.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